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9" r:id="rId11"/>
    <p:sldId id="264" r:id="rId12"/>
    <p:sldId id="265" r:id="rId13"/>
    <p:sldId id="271" r:id="rId14"/>
    <p:sldId id="270" r:id="rId15"/>
    <p:sldId id="273" r:id="rId16"/>
    <p:sldId id="266" r:id="rId17"/>
    <p:sldId id="272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A1A2-3FF1-09F5-B879-EE3EE65BA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79D0D-A961-210C-0E80-9FD1F2FE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E3BF6-4A36-82D1-351C-EB75DE92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ADD07-A87F-6D51-1F4C-291566EF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5A842-470A-88A2-6333-95FC181B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2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357F-0A11-C175-CB99-372720AA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A6510-B8CA-20C7-BC72-66E85999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0D17D-4C91-84A2-DA83-DD0B0B52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181AB-732D-01D0-F8E2-D434393D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44B3D-A22C-B261-C252-367CB39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86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F2B3-CB7A-E01A-CC52-476B0339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2B10B-4D94-6448-11AC-89FE36311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8A84-3E5A-29B9-0EAB-EAC88682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AB54F-1F1C-CB76-D4F3-610131C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6D1F3-8672-EA8E-CC19-D398BF22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17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ACAB-E2CB-41CF-EE88-3E71E2C5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340B9-59D3-481F-037C-0C33C0982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C169C-031B-92D7-2DEA-14D837859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6DE0E-5B55-C7B4-78D5-BBFC914F5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BB639-A5B3-1186-496A-13A08AEB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8FB3B-22AD-C2D1-3C5E-3B01585C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9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0816-F9BF-23E0-DF08-96054418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8606C-9DE4-113C-77F4-DA282C855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213B8-7372-5C6D-4100-154FD3E81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1B791-CD83-7D89-4594-DEEA10CBA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D2D4B-14EB-47B5-3997-07A483FBA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67182-78C6-2BAB-94AB-6EC7B309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023AB-20ED-5E44-8952-E1E66B24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B386A-D524-19FF-C1AD-BF62A1B6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45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9782-67AE-7A92-9252-B46A4C96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2CD2D-2F59-D206-5D2D-565FCF7D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F1A0D-B566-F84F-48D7-5DE1079A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8DA0F-6068-AD47-47D3-30C53FC8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8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FA66B-BF6F-8D53-2BF5-6C669C1C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1DEE2-7F50-C714-D30A-7A851CFA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EF565-3E42-AD7A-3FB0-32BFDEBE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89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91DE-048A-D9BB-B1D1-ADDA215D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E0E0D-8C11-620E-1393-546E8D52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346D3-A500-3661-FAEF-5A481E009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2163E-A983-9C03-0FB0-22897EB2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21A76-B5CE-5E40-861F-4ED3D897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E4F35-5D41-E5F1-6BF7-9CA4FB14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4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51DF-BC1E-F2BE-635A-B963B51E7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E05C1-66F4-FA71-83D8-5B18387E9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5800A-7115-434F-2C92-EB1DEC7AD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B6BC7-C4ED-139A-EEEF-EB6CADA6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6F223-1B52-7BD2-CA5C-4DF39426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F1142-E08D-A2B2-FADE-CBE3523E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41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DDAF-5951-47A9-8CEB-D5E49527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31A40-630E-C54F-AC5F-451D03473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6CD4-EB23-BDD1-6367-68F84D75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2A7A-76E2-7C53-B77E-405AF349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E433-2524-9F8E-8D70-6DD0E819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6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38D13-2FF5-F969-EE83-3CB564729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6E1F9-20EB-2CAC-3296-C89087486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9003-B3A2-05EF-2124-F9D2D89C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3133E-3C61-2A4D-9243-5DB9EF71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D9869-10BB-2D2A-26ED-394AFCEA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07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E052B-19A9-2B77-E593-0D47DB2A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6A91D-A4C6-1B81-0799-DDDB0B307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EB164-D115-5953-4FFB-A2E5D4BA1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21AE-A1E0-41B5-BD61-93BC470DB9D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34641-38DB-39D6-5326-010332D97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5EDDA-E675-7BFA-A88D-6F057C570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C7F4A-29CC-45F9-AF07-DE5CD67B0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92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DAD3-BF85-00B5-60F8-D0000F240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416" y="198819"/>
            <a:ext cx="9144000" cy="1511109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Predicting Fe Material Properties Using Behler–Parrinello Neural Networks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20220-BCEC-4ECF-AA48-A2D5F9CEB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3416" y="2633472"/>
            <a:ext cx="9144000" cy="316382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Saharsh Sharma (22MMB0A12)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Varun Kumar (22MMB0A78)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D7B66-7B4A-E96E-0E57-1783F0634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84" y="4509616"/>
            <a:ext cx="780206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1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A66A-03F1-AD25-7B2E-9B887718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46DE2-F8D4-1216-80ED-17D57B1CC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1628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Functional Theory (DFT)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highly accurate predictions for materials’ properties (e.g., energy, forces, magnetism).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scaling poorly with system size and requiring long simulation times for even simple structures.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faster alternative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the mapping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atomic configurations and their corresponding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energies or 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DFT-generated data.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ML models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thermal, electrical, and magnetic properties of Iron (Fe)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function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 constant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computation time while maintaining near-DFT accuracy.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5939B4-051E-B86C-39B9-B53E066B98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00813" y="1758767"/>
            <a:ext cx="3210373" cy="2162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37F0A5-BD43-EDEF-1F4C-04203060A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4"/>
          <a:stretch>
            <a:fillRect/>
          </a:stretch>
        </p:blipFill>
        <p:spPr>
          <a:xfrm>
            <a:off x="7644384" y="4412569"/>
            <a:ext cx="4350262" cy="176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7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4D967-2B12-2FCB-60AB-C6F155B3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Behler–Parrinello Neural Network (BPNN)?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3FC41-4DDB-FA38-D33A-FD7CDBD652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586728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chemeClr val="accent1"/>
                    </a:solidFill>
                  </a:rPr>
                  <a:t>Concept</a:t>
                </a:r>
                <a:r>
                  <a:rPr lang="en-IN" sz="2000" b="1" dirty="0"/>
                  <a:t>:</a:t>
                </a:r>
                <a:endParaRPr lang="en-IN" sz="2000" dirty="0"/>
              </a:p>
              <a:p>
                <a:r>
                  <a:rPr lang="en-IN" sz="2000" dirty="0"/>
                  <a:t>Introduced by J. Behler &amp; M. Parrinello (2007) for high-dimensional potential energy surfaces.</a:t>
                </a:r>
              </a:p>
              <a:p>
                <a:r>
                  <a:rPr lang="en-IN" sz="2000" b="1" dirty="0"/>
                  <a:t>Key Idea:</a:t>
                </a:r>
                <a:r>
                  <a:rPr lang="en-IN" sz="2000" dirty="0"/>
                  <a:t> Total energy = sum of </a:t>
                </a:r>
                <a:r>
                  <a:rPr lang="en-IN" sz="2000" i="1" dirty="0"/>
                  <a:t>atomic</a:t>
                </a:r>
                <a:r>
                  <a:rPr lang="en-IN" sz="2000" dirty="0"/>
                  <a:t> neural networks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000" i="1"/>
                          <m:t>total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b="1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sz="2000" b="0" dirty="0"/>
              </a:p>
              <a:p>
                <a:r>
                  <a:rPr lang="en-IN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IN" sz="2000" dirty="0"/>
                  <a:t>symmetry functions describing atom </a:t>
                </a:r>
                <a:r>
                  <a:rPr lang="en-IN" sz="2000" i="1" dirty="0"/>
                  <a:t>i</a:t>
                </a:r>
                <a:r>
                  <a:rPr lang="en-IN" sz="2000" dirty="0"/>
                  <a:t>’s local environment.</a:t>
                </a:r>
              </a:p>
              <a:p>
                <a:pPr marL="0" indent="0">
                  <a:buNone/>
                </a:pPr>
                <a:r>
                  <a:rPr lang="en-IN" sz="2400" b="1" dirty="0">
                    <a:solidFill>
                      <a:schemeClr val="accent1"/>
                    </a:solidFill>
                  </a:rPr>
                  <a:t>Features</a:t>
                </a:r>
                <a:r>
                  <a:rPr lang="en-IN" sz="2000" b="1" dirty="0"/>
                  <a:t>:</a:t>
                </a:r>
                <a:endParaRPr lang="en-IN" sz="2000" dirty="0"/>
              </a:p>
              <a:p>
                <a:r>
                  <a:rPr lang="en-IN" sz="2000" dirty="0"/>
                  <a:t>Uses </a:t>
                </a:r>
                <a:r>
                  <a:rPr lang="en-IN" sz="2000" b="1" dirty="0"/>
                  <a:t>symmetry functions (G-vectors)</a:t>
                </a:r>
                <a:r>
                  <a:rPr lang="en-IN" sz="2000" dirty="0"/>
                  <a:t> → invariant to rotation, translation, permutation.</a:t>
                </a:r>
              </a:p>
              <a:p>
                <a:r>
                  <a:rPr lang="en-IN" sz="2000" dirty="0"/>
                  <a:t>Each atomic NN learns contribution of local environment → excellent transferability.</a:t>
                </a:r>
              </a:p>
              <a:p>
                <a:r>
                  <a:rPr lang="en-IN" sz="2000" dirty="0"/>
                  <a:t>Forms backbone of </a:t>
                </a:r>
                <a:r>
                  <a:rPr lang="en-IN" sz="2000" b="1" dirty="0"/>
                  <a:t>Neural Network Potentials (NNP)</a:t>
                </a:r>
                <a:r>
                  <a:rPr lang="en-IN" sz="2000" dirty="0"/>
                  <a:t>.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3FC41-4DDB-FA38-D33A-FD7CDBD65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586728" cy="4351338"/>
              </a:xfrm>
              <a:blipFill>
                <a:blip r:embed="rId2"/>
                <a:stretch>
                  <a:fillRect l="-1204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820D93D-4941-DCB2-D21D-6C0E80805F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856659" y="1690688"/>
            <a:ext cx="37694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0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7775-392F-4715-2F8B-F41E9377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45339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Material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6DEE9-9239-A7C6-2F2A-684F4929F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outputs: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Conductivity (W/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m·K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Heat transport ability; sensitive to lattice vibration and defects.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Resistivity (μΩ·cm)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Electron scattering; increases with temperature and lattice distortion.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Moment (μB/atom)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Spin-dependent property linked to electronic structure.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these three correlated properties simultaneously.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Self-learning Monte Carlo method with Behler-Parrinello neural networks |  iTHEMS">
            <a:extLst>
              <a:ext uri="{FF2B5EF4-FFF2-40B4-BE49-F238E27FC236}">
                <a16:creationId xmlns:a16="http://schemas.microsoft.com/office/drawing/2014/main" id="{CC5ADF9D-55D0-1BE0-C7B4-44AD0E256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329" y="575580"/>
            <a:ext cx="19050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What Is the Difference Between FCC and BCC? (Crystal Structure, Properties,  Interstitial Sites, and Examples) – Materials Science &amp; Engineering">
            <a:extLst>
              <a:ext uri="{FF2B5EF4-FFF2-40B4-BE49-F238E27FC236}">
                <a16:creationId xmlns:a16="http://schemas.microsoft.com/office/drawing/2014/main" id="{0F3F4C54-A4ED-38A5-BCB7-37BA7BBAE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5234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6E4E6-21FE-E8B1-B3EB-8746A76FA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327398"/>
            <a:ext cx="4161536" cy="2340864"/>
          </a:xfrm>
          <a:prstGeom prst="rect">
            <a:avLst/>
          </a:prstGeom>
        </p:spPr>
      </p:pic>
      <p:pic>
        <p:nvPicPr>
          <p:cNvPr id="4102" name="Picture 6" descr="7.4: Iron and Steel - Chemistry LibreTexts">
            <a:extLst>
              <a:ext uri="{FF2B5EF4-FFF2-40B4-BE49-F238E27FC236}">
                <a16:creationId xmlns:a16="http://schemas.microsoft.com/office/drawing/2014/main" id="{FF904E52-64F3-2252-8521-05EB61DD0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5197" y="3314840"/>
            <a:ext cx="3852672" cy="349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18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9C24-2B4D-E389-6A0F-88EBBB47C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96884-2895-CC97-1D33-93B342FA9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DFT dataset 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 Dataset DFT.xlsx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lattice_constant (Å), thermal_conductivity, electrical_resistivity,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magnetic_moment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≈ one DFT simulation point.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Lammps script attached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A6DA3B-07A8-91B4-083C-3C7B1F6B0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52679"/>
              </p:ext>
            </p:extLst>
          </p:nvPr>
        </p:nvGraphicFramePr>
        <p:xfrm>
          <a:off x="905256" y="3356768"/>
          <a:ext cx="10332720" cy="2820195"/>
        </p:xfrm>
        <a:graphic>
          <a:graphicData uri="http://schemas.openxmlformats.org/drawingml/2006/table">
            <a:tbl>
              <a:tblPr/>
              <a:tblGrid>
                <a:gridCol w="1235602">
                  <a:extLst>
                    <a:ext uri="{9D8B030D-6E8A-4147-A177-3AD203B41FA5}">
                      <a16:colId xmlns:a16="http://schemas.microsoft.com/office/drawing/2014/main" val="1731987874"/>
                    </a:ext>
                  </a:extLst>
                </a:gridCol>
                <a:gridCol w="1003926">
                  <a:extLst>
                    <a:ext uri="{9D8B030D-6E8A-4147-A177-3AD203B41FA5}">
                      <a16:colId xmlns:a16="http://schemas.microsoft.com/office/drawing/2014/main" val="3053230119"/>
                    </a:ext>
                  </a:extLst>
                </a:gridCol>
                <a:gridCol w="1003926">
                  <a:extLst>
                    <a:ext uri="{9D8B030D-6E8A-4147-A177-3AD203B41FA5}">
                      <a16:colId xmlns:a16="http://schemas.microsoft.com/office/drawing/2014/main" val="1038468916"/>
                    </a:ext>
                  </a:extLst>
                </a:gridCol>
                <a:gridCol w="1003926">
                  <a:extLst>
                    <a:ext uri="{9D8B030D-6E8A-4147-A177-3AD203B41FA5}">
                      <a16:colId xmlns:a16="http://schemas.microsoft.com/office/drawing/2014/main" val="1245110857"/>
                    </a:ext>
                  </a:extLst>
                </a:gridCol>
                <a:gridCol w="1003926">
                  <a:extLst>
                    <a:ext uri="{9D8B030D-6E8A-4147-A177-3AD203B41FA5}">
                      <a16:colId xmlns:a16="http://schemas.microsoft.com/office/drawing/2014/main" val="3757211098"/>
                    </a:ext>
                  </a:extLst>
                </a:gridCol>
                <a:gridCol w="1390052">
                  <a:extLst>
                    <a:ext uri="{9D8B030D-6E8A-4147-A177-3AD203B41FA5}">
                      <a16:colId xmlns:a16="http://schemas.microsoft.com/office/drawing/2014/main" val="3584562211"/>
                    </a:ext>
                  </a:extLst>
                </a:gridCol>
                <a:gridCol w="1652618">
                  <a:extLst>
                    <a:ext uri="{9D8B030D-6E8A-4147-A177-3AD203B41FA5}">
                      <a16:colId xmlns:a16="http://schemas.microsoft.com/office/drawing/2014/main" val="4212196279"/>
                    </a:ext>
                  </a:extLst>
                </a:gridCol>
                <a:gridCol w="2038744">
                  <a:extLst>
                    <a:ext uri="{9D8B030D-6E8A-4147-A177-3AD203B41FA5}">
                      <a16:colId xmlns:a16="http://schemas.microsoft.com/office/drawing/2014/main" val="3418638801"/>
                    </a:ext>
                  </a:extLst>
                </a:gridCol>
              </a:tblGrid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lattice_constant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atomic_mass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pressure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volume_per_atom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coordination_number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nearest_neighbor_distance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18016"/>
                  </a:ext>
                </a:extLst>
              </a:tr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813.05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504109"/>
                  </a:ext>
                </a:extLst>
              </a:tr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114095"/>
                  </a:ext>
                </a:extLst>
              </a:tr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278.59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931073"/>
                  </a:ext>
                </a:extLst>
              </a:tr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367.89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756188"/>
                  </a:ext>
                </a:extLst>
              </a:tr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144.64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40300"/>
                  </a:ext>
                </a:extLst>
              </a:tr>
              <a:tr h="4028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456.53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56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31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8D2F1-9DE8-32FB-3A5E-2A1CA10A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032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Representation with 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AB5EA-07D8-B15C-628F-446E050C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Concept: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atoms = bulk('Fe', 'bcc', a=a)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Simulation Environment (ASE)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body-centered cubic (bcc) structure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Iron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lattice constant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spacing between atoms — a key input affecting physical properties.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structure is built,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coordinates, lattice vectors, and neighbor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extracted.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serve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ML model to learn structure–property relationships.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43945-30BF-51F4-5368-814D3B2B7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726" y="914401"/>
            <a:ext cx="6792074" cy="2311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C11740-262A-A26E-9E08-EE25D5A3D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750" y="5465853"/>
            <a:ext cx="7798085" cy="11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12CF-18E2-8C7B-628C-B890BF00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 Function Descriptors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642AF-802A-96F1-0A0E-395F26FD32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chemeClr val="accent1"/>
                    </a:solidFill>
                  </a:rPr>
                  <a:t>Formula — Radial Symmetry 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000" i="1"/>
                          <m:t>rad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d>
                              <m:dPr>
                                <m:endChr m:val=""/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200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sup>
                        </m:sSup>
                      </m:e>
                    </m:nary>
                  </m:oMath>
                </a14:m>
                <a:endParaRPr lang="ar-AE" sz="2000" b="0" dirty="0"/>
              </a:p>
              <a:p>
                <a:pPr marL="0" indent="0">
                  <a:buNone/>
                </a:pPr>
                <a:r>
                  <a:rPr lang="en-IN" sz="2400" b="1" dirty="0">
                    <a:solidFill>
                      <a:schemeClr val="accent1"/>
                    </a:solidFill>
                  </a:rPr>
                  <a:t>Highlights</a:t>
                </a:r>
                <a:r>
                  <a:rPr lang="en-IN" sz="2000" b="1" dirty="0"/>
                  <a:t>:</a:t>
                </a:r>
                <a:endParaRPr lang="en-IN" sz="2000" dirty="0"/>
              </a:p>
              <a:p>
                <a:r>
                  <a:rPr lang="en-IN" sz="2000" dirty="0"/>
                  <a:t>Represents the </a:t>
                </a:r>
                <a:r>
                  <a:rPr lang="en-IN" sz="2000" b="1" dirty="0"/>
                  <a:t>radial distribution of neighbouring atoms</a:t>
                </a:r>
                <a:r>
                  <a:rPr lang="en-IN" sz="2000" dirty="0"/>
                  <a:t> around a central atom </a:t>
                </a:r>
                <a:r>
                  <a:rPr lang="en-IN" sz="2000" i="1" dirty="0" err="1"/>
                  <a:t>i</a:t>
                </a:r>
                <a:r>
                  <a:rPr lang="en-IN" sz="2000" dirty="0"/>
                  <a:t>.</a:t>
                </a:r>
              </a:p>
              <a:p>
                <a:r>
                  <a:rPr lang="en-IN" sz="2000" dirty="0"/>
                  <a:t>The parameters:</a:t>
                </a:r>
              </a:p>
              <a:p>
                <a:pPr lvl="1"/>
                <a:r>
                  <a:rPr lang="el-GR" sz="2000" b="1" dirty="0"/>
                  <a:t>η (</a:t>
                </a:r>
                <a:r>
                  <a:rPr lang="en-IN" sz="2000" b="1" dirty="0"/>
                  <a:t>eta):</a:t>
                </a:r>
                <a:r>
                  <a:rPr lang="en-IN" sz="2000" dirty="0"/>
                  <a:t> Controls the </a:t>
                </a:r>
                <a:r>
                  <a:rPr lang="en-IN" sz="2000" i="1" dirty="0"/>
                  <a:t>width</a:t>
                </a:r>
                <a:r>
                  <a:rPr lang="en-IN" sz="2000" dirty="0"/>
                  <a:t> or </a:t>
                </a:r>
                <a:r>
                  <a:rPr lang="en-IN" sz="2000" i="1" dirty="0"/>
                  <a:t>sensitivity</a:t>
                </a:r>
                <a:r>
                  <a:rPr lang="en-IN" sz="2000" dirty="0"/>
                  <a:t> of the Gaussian — how sharply distances are distinguished.</a:t>
                </a:r>
              </a:p>
              <a:p>
                <a:pPr lvl="1"/>
                <a:r>
                  <a:rPr lang="en-IN" sz="2000" b="1" dirty="0"/>
                  <a:t>Rₛ (R-shift):</a:t>
                </a:r>
                <a:r>
                  <a:rPr lang="en-IN" sz="2000" dirty="0"/>
                  <a:t> Shifts the Gaussian </a:t>
                </a:r>
                <a:r>
                  <a:rPr lang="en-IN" sz="2000" dirty="0" err="1"/>
                  <a:t>center</a:t>
                </a:r>
                <a:r>
                  <a:rPr lang="en-IN" sz="2000" dirty="0"/>
                  <a:t>, probing different radial shells.</a:t>
                </a:r>
              </a:p>
              <a:p>
                <a:r>
                  <a:rPr lang="en-IN" sz="2000" dirty="0"/>
                  <a:t>Captures </a:t>
                </a:r>
                <a:r>
                  <a:rPr lang="en-IN" sz="2000" b="1" dirty="0"/>
                  <a:t>local atomic environments</a:t>
                </a:r>
                <a:r>
                  <a:rPr lang="en-IN" sz="2000" dirty="0"/>
                  <a:t> in a smooth, continuous way.</a:t>
                </a:r>
              </a:p>
              <a:p>
                <a:r>
                  <a:rPr lang="en-IN" sz="2000" dirty="0"/>
                  <a:t>When </a:t>
                </a:r>
                <a:r>
                  <a:rPr lang="en-IN" sz="2000" b="1" dirty="0"/>
                  <a:t>averaged across all atoms</a:t>
                </a:r>
                <a:r>
                  <a:rPr lang="en-IN" sz="2000" dirty="0"/>
                  <a:t>, yields a </a:t>
                </a:r>
                <a:r>
                  <a:rPr lang="en-IN" sz="2000" b="1" dirty="0"/>
                  <a:t>global descriptor</a:t>
                </a:r>
                <a:r>
                  <a:rPr lang="en-IN" sz="2000" dirty="0"/>
                  <a:t> of the entire crystal or simulation cell — suitable for ML input.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642AF-802A-96F1-0A0E-395F26FD32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94" t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989D26-16A7-E818-7236-5DC16975AC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690689"/>
            <a:ext cx="5509517" cy="4486274"/>
          </a:xfrm>
        </p:spPr>
      </p:pic>
    </p:spTree>
    <p:extLst>
      <p:ext uri="{BB962C8B-B14F-4D97-AF65-F5344CB8AC3E}">
        <p14:creationId xmlns:p14="http://schemas.microsoft.com/office/powerpoint/2010/main" val="19463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F76B2-C422-203D-D1A7-2D02AD3C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0062"/>
            <a:ext cx="10515600" cy="132556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Symmetry Descriptor Importance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2AD8F-AC5B-94AC-521B-9F02DFE32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47126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most relevant symmetry descriptors that capture atomic structure variations for Iron.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radial symmetry functions (with η, Rs combinations) as input features.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descriptors: RadialSF(η=0.05, Rs=0.5), RadialSF(η=0.1, Rs=1.0), etc.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with higher importance contribute strongly to predicting material properties.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AC79D43-8912-117D-8A4F-5B0ADA61C9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1181529"/>
            <a:ext cx="5786919" cy="517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37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3A1D-D64F-FEF6-808F-6AD000D2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27" y="29320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Neural Network Potential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FB90-0861-706F-2DBC-87855D49D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145" y="1825625"/>
            <a:ext cx="6195316" cy="47601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Structure:</a:t>
            </a:r>
            <a:endParaRPr lang="en-US" sz="3400" dirty="0">
              <a:solidFill>
                <a:schemeClr val="accent1"/>
              </a:solidFill>
            </a:endParaRPr>
          </a:p>
          <a:p>
            <a:r>
              <a:rPr lang="en-US" b="1" dirty="0"/>
              <a:t>Input Layer:</a:t>
            </a:r>
            <a:r>
              <a:rPr lang="en-US" dirty="0"/>
              <a:t> Length = size of the descriptor vector (number of symmetry features per atom).</a:t>
            </a:r>
          </a:p>
          <a:p>
            <a:r>
              <a:rPr lang="en-US" b="1" dirty="0"/>
              <a:t>Hidden Layers:</a:t>
            </a:r>
            <a:r>
              <a:rPr lang="en-US" dirty="0"/>
              <a:t> Two fully connected layers, each with </a:t>
            </a:r>
            <a:r>
              <a:rPr lang="en-US" b="1" dirty="0"/>
              <a:t>128 neurons</a:t>
            </a:r>
            <a:r>
              <a:rPr lang="en-US" dirty="0"/>
              <a:t>.</a:t>
            </a:r>
          </a:p>
          <a:p>
            <a:r>
              <a:rPr lang="en-US" b="1" dirty="0"/>
              <a:t>Output Layer:</a:t>
            </a:r>
            <a:r>
              <a:rPr lang="en-US" dirty="0"/>
              <a:t> 3 neurons → predict </a:t>
            </a:r>
            <a:r>
              <a:rPr lang="en-US" b="1" dirty="0"/>
              <a:t>thermal</a:t>
            </a:r>
            <a:r>
              <a:rPr lang="en-US" dirty="0"/>
              <a:t>, </a:t>
            </a:r>
            <a:r>
              <a:rPr lang="en-US" b="1" dirty="0"/>
              <a:t>electrical</a:t>
            </a:r>
            <a:r>
              <a:rPr lang="en-US" dirty="0"/>
              <a:t>, and </a:t>
            </a:r>
            <a:r>
              <a:rPr lang="en-US" b="1" dirty="0"/>
              <a:t>magnetic</a:t>
            </a:r>
            <a:r>
              <a:rPr lang="en-US" dirty="0"/>
              <a:t> properties.</a:t>
            </a:r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Flow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Linear → ReLU → Linear → ReLU → Linear</a:t>
            </a:r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Key Components:</a:t>
            </a:r>
            <a:endParaRPr lang="en-US" sz="3400" dirty="0">
              <a:solidFill>
                <a:schemeClr val="accent1"/>
              </a:solidFill>
            </a:endParaRPr>
          </a:p>
          <a:p>
            <a:r>
              <a:rPr lang="en-US" b="1" dirty="0"/>
              <a:t>ReLU (Rectified Linear Unit):</a:t>
            </a:r>
            <a:br>
              <a:rPr lang="en-US" dirty="0"/>
            </a:br>
            <a:r>
              <a:rPr lang="en-US" dirty="0"/>
              <a:t>Activation function </a:t>
            </a:r>
            <a:r>
              <a:rPr lang="en-IN" dirty="0"/>
              <a:t>f(x) = max (0,x)</a:t>
            </a:r>
            <a:endParaRPr lang="en-US" dirty="0"/>
          </a:p>
          <a:p>
            <a:r>
              <a:rPr lang="en-US" b="1" dirty="0"/>
              <a:t>Loss Function:</a:t>
            </a:r>
            <a:r>
              <a:rPr lang="en-US" dirty="0"/>
              <a:t> </a:t>
            </a:r>
            <a:r>
              <a:rPr lang="en-US" b="1" dirty="0"/>
              <a:t>Mean Squared Error (MSE)</a:t>
            </a:r>
            <a:r>
              <a:rPr lang="en-US" dirty="0"/>
              <a:t> </a:t>
            </a:r>
          </a:p>
          <a:p>
            <a:r>
              <a:rPr lang="en-US" b="1" dirty="0"/>
              <a:t>Optimizer:</a:t>
            </a:r>
            <a:r>
              <a:rPr lang="en-US" dirty="0"/>
              <a:t> </a:t>
            </a:r>
            <a:r>
              <a:rPr lang="en-US" b="1" dirty="0"/>
              <a:t>Adam (Adaptive Moment Estimation)</a:t>
            </a:r>
            <a:endParaRPr lang="en-US" dirty="0"/>
          </a:p>
          <a:p>
            <a:pPr lvl="1"/>
            <a:r>
              <a:rPr lang="en-US" b="1" dirty="0"/>
              <a:t>Adaptively adjusts</a:t>
            </a:r>
            <a:r>
              <a:rPr lang="en-US" dirty="0"/>
              <a:t> learning rates for each parameter.</a:t>
            </a:r>
          </a:p>
          <a:p>
            <a:pPr lvl="1"/>
            <a:r>
              <a:rPr lang="en-US" dirty="0"/>
              <a:t>Learning rate (</a:t>
            </a:r>
            <a:r>
              <a:rPr lang="en-US" dirty="0" err="1"/>
              <a:t>lr</a:t>
            </a:r>
            <a:r>
              <a:rPr lang="en-US" dirty="0"/>
              <a:t>): </a:t>
            </a:r>
            <a:r>
              <a:rPr lang="en-US" b="1" dirty="0"/>
              <a:t>0.001</a:t>
            </a:r>
            <a:endParaRPr lang="en-US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C24FF1-F534-8EEC-FEF0-7D0EBA042D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2757" y="1618768"/>
            <a:ext cx="5499243" cy="476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4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4F29-E0A2-6548-82DE-C344FE5C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1" y="5176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6077A-5CFD-5F27-2821-98DCD4B99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7951" y="1097773"/>
            <a:ext cx="5181600" cy="48327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Objective:</a:t>
            </a:r>
          </a:p>
          <a:p>
            <a:pPr marL="0" indent="0">
              <a:buNone/>
            </a:pPr>
            <a:r>
              <a:rPr lang="en-US" dirty="0"/>
              <a:t>Optimize neural network architecture for best prediction performance.</a:t>
            </a:r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Approach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Tuned learning rate, hidden layer size, and batch size.</a:t>
            </a:r>
          </a:p>
          <a:p>
            <a:pPr lvl="1"/>
            <a:r>
              <a:rPr lang="en-US" dirty="0"/>
              <a:t>Tracked validation loss across different settings.</a:t>
            </a:r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Procedure: </a:t>
            </a:r>
          </a:p>
          <a:p>
            <a:pPr lvl="1"/>
            <a:r>
              <a:rPr lang="en-US" dirty="0"/>
              <a:t>Plotted validation loss vs. learning rate and hidden nodes.</a:t>
            </a:r>
          </a:p>
          <a:p>
            <a:pPr lvl="1"/>
            <a:r>
              <a:rPr lang="en-US" dirty="0"/>
              <a:t>Identified optimal settings: e.g., learning rate = 0.001, hidden size = 128.</a:t>
            </a:r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Impact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Improved model generalization and reduced overfitting.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B38C85-6450-E64A-B2E1-F6057A7C47B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365125"/>
            <a:ext cx="5798049" cy="314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7B86ABA-5825-07E5-FF32-983072828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3843338"/>
            <a:ext cx="5798049" cy="281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83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F3E0-A8DE-4A2B-4690-459D8385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40" y="31620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156A6-07E1-BB91-A286-EB2DE15A4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040" y="1527674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Steps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80 % train / 20 % test split</a:t>
            </a:r>
          </a:p>
          <a:p>
            <a:r>
              <a:rPr lang="en-US" dirty="0"/>
              <a:t>Batch = 64, Epochs = 50</a:t>
            </a:r>
          </a:p>
          <a:p>
            <a:r>
              <a:rPr lang="en-US" dirty="0"/>
              <a:t>Metric = Mean Squared Error</a:t>
            </a:r>
          </a:p>
          <a:p>
            <a:r>
              <a:rPr lang="en-US" dirty="0"/>
              <a:t>Observed steady loss decrease → model convergence.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4EF815-FCFC-3959-2E5D-52607B555B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91873" y="981313"/>
            <a:ext cx="2308262" cy="3829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DB22AB-4E04-E131-4033-E414982DD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40"/>
          <a:stretch>
            <a:fillRect/>
          </a:stretch>
        </p:blipFill>
        <p:spPr>
          <a:xfrm>
            <a:off x="7346499" y="978987"/>
            <a:ext cx="2424226" cy="3832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4D572D-4F7E-6095-51DD-F83486E2A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725" y="978986"/>
            <a:ext cx="2232539" cy="503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98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2B109B-8A3F-C915-5550-09E8D0EF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Prediction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ADDEA99-BABC-F71F-6706-EF79F81C5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298" y="2910332"/>
            <a:ext cx="7284377" cy="369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EDE714-4D65-5D08-787C-70CA3822E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28876"/>
            <a:ext cx="7182852" cy="11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3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1466-E230-77FD-3467-2E73C8B2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Prediction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7EF8166-8C8A-E122-4678-A7657FA454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49347"/>
            <a:ext cx="10515600" cy="464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33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C096-354E-B91C-90A7-6328C0AA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 &amp; Model Robustness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51149-503B-332E-F0AD-AC30106E0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Goal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Assess reliability and stability of model predictions.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Method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Bootstrap sampling—repeatedly resampled training/testing splits, observed RMSE variability.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Outcome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Plotted RMSE distribution for thermal, electrical, magnetic properties.</a:t>
            </a:r>
          </a:p>
          <a:p>
            <a:pPr lvl="1"/>
            <a:r>
              <a:rPr lang="en-US" dirty="0"/>
              <a:t>Most predictions are stable; few extreme errors.</a:t>
            </a:r>
          </a:p>
          <a:p>
            <a:pPr lvl="1"/>
            <a:r>
              <a:rPr lang="en-US" dirty="0"/>
              <a:t>Confirms model robustness for material science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14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CA9E-CF48-7A64-E87D-59C9568A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 &amp; Model Robustness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475A29-42E5-94C8-EE6B-6BD2D98460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105156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828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75F0-6E62-186B-C9AD-6982153F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B3DCF3-45A0-AFCC-56C8-D26C6B50D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Conductivity: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 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— larger atomic spacing and enhanced phonon scattering reduce heat transport.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Resistivity: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consistent with experimental and DFT trends — due to increased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electron–phonon interactions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hinder electron flow.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Moment: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decrease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temperature — thermal agitation gradually disrupts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alignment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Fe atoms.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679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B7AD9C-520E-D8D2-C6A2-5DED7299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Insights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E4C5B3-808C-5F1B-F808-8182B8165C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49347"/>
            <a:ext cx="10515600" cy="464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427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76F4-C24E-584F-67B6-986BD626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44D2-C95B-1178-51E0-D4316C584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Behler–Parrinello-inspired NN potential for Fe.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predicted multiple properties simultaneously.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ML can emulate DFT trends efficiently.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symmetry functions (G⁴, G⁵).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Fe–C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Fe–Ni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alloys.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CGCNN).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99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1135</Words>
  <Application>Microsoft Office PowerPoint</Application>
  <PresentationFormat>Widescreen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 Predicting Fe Material Properties Using Behler–Parrinello Neural Networks</vt:lpstr>
      <vt:lpstr>Motivation &amp; Objective</vt:lpstr>
      <vt:lpstr>What Is a Behler–Parrinello Neural Network (BPNN)?</vt:lpstr>
      <vt:lpstr>Target Material Properties</vt:lpstr>
      <vt:lpstr>Dataset Description </vt:lpstr>
      <vt:lpstr>Structural Representation with ASE</vt:lpstr>
      <vt:lpstr>Symmetry Function Descriptors</vt:lpstr>
      <vt:lpstr>Feature Selection: Symmetry Descriptor Importance </vt:lpstr>
      <vt:lpstr>Model Architecture: Neural Network Potential</vt:lpstr>
      <vt:lpstr>Hyperparameter Tuning </vt:lpstr>
      <vt:lpstr>Training &amp; Testing</vt:lpstr>
      <vt:lpstr>Evaluation &amp; Prediction</vt:lpstr>
      <vt:lpstr>Evaluation &amp; Prediction</vt:lpstr>
      <vt:lpstr>Bootstrapping &amp; Model Robustness </vt:lpstr>
      <vt:lpstr>Bootstrapping &amp; Model Robustness </vt:lpstr>
      <vt:lpstr>Results &amp; Insights</vt:lpstr>
      <vt:lpstr>Results &amp; Insights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Saharsh Sharma</dc:creator>
  <cp:lastModifiedBy>Saharsh Sharma</cp:lastModifiedBy>
  <cp:revision>30</cp:revision>
  <dcterms:created xsi:type="dcterms:W3CDTF">2025-10-18T03:24:43Z</dcterms:created>
  <dcterms:modified xsi:type="dcterms:W3CDTF">2025-10-29T06:40:50Z</dcterms:modified>
</cp:coreProperties>
</file>